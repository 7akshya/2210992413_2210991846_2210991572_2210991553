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63" r:id="rId6"/>
    <p:sldId id="264" r:id="rId7"/>
    <p:sldId id="260" r:id="rId8"/>
    <p:sldId id="266" r:id="rId9"/>
    <p:sldId id="267" r:id="rId10"/>
  </p:sldIdLst>
  <p:sldSz cx="9753600" cy="73152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1pPr>
    <a:lvl2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2pPr>
    <a:lvl3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3pPr>
    <a:lvl4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4pPr>
    <a:lvl5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5pPr>
    <a:lvl6pPr marL="2286000" algn="l" defTabSz="914400" rtl="0" eaLnBrk="1" latinLnBrk="0" hangingPunct="1"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6pPr>
    <a:lvl7pPr marL="2743200" algn="l" defTabSz="914400" rtl="0" eaLnBrk="1" latinLnBrk="0" hangingPunct="1"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7pPr>
    <a:lvl8pPr marL="3200400" algn="l" defTabSz="914400" rtl="0" eaLnBrk="1" latinLnBrk="0" hangingPunct="1"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8pPr>
    <a:lvl9pPr marL="3657600" algn="l" defTabSz="914400" rtl="0" eaLnBrk="1" latinLnBrk="0" hangingPunct="1">
      <a:defRPr kern="1200">
        <a:solidFill>
          <a:srgbClr val="000000"/>
        </a:solidFill>
        <a:latin typeface="Calibri" panose="020F0502020204030204" pitchFamily="34" charset="0"/>
        <a:ea typeface="+mn-ea"/>
        <a:cs typeface="Calibri" panose="020F0502020204030204" pitchFamily="34" charset="0"/>
        <a:sym typeface="Calibri" panose="020F0502020204030204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0A4CCC-ED9A-E17D-9F08-0F05C1F66D03}" v="562" dt="2026-05-08T17:48:01.11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hape 70">
            <a:extLst>
              <a:ext uri="{FF2B5EF4-FFF2-40B4-BE49-F238E27FC236}">
                <a16:creationId xmlns:a16="http://schemas.microsoft.com/office/drawing/2014/main" id="{29136BEE-C934-1CB3-3AF3-51D4DEC5B8A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5" name="Shape 71">
            <a:extLst>
              <a:ext uri="{FF2B5EF4-FFF2-40B4-BE49-F238E27FC236}">
                <a16:creationId xmlns:a16="http://schemas.microsoft.com/office/drawing/2014/main" id="{76B045EE-48E1-F94D-EA4D-736DA92441A1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Helvetica Neu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Helvetica Neue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Helvetica Neue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Helvetica Neue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Helvetica Neue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>
        <a:solidFill>
          <a:schemeClr val="tx1"/>
        </a:solidFill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>
            <a:extLst>
              <a:ext uri="{FF2B5EF4-FFF2-40B4-BE49-F238E27FC236}">
                <a16:creationId xmlns:a16="http://schemas.microsoft.com/office/drawing/2014/main" id="{B6580AF8-7E08-5540-7C65-042579803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752013" cy="89376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3" name="bg object 17">
            <a:extLst>
              <a:ext uri="{FF2B5EF4-FFF2-40B4-BE49-F238E27FC236}">
                <a16:creationId xmlns:a16="http://schemas.microsoft.com/office/drawing/2014/main" id="{E334362F-2103-E8ED-DFB4-734F9A4A0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151688"/>
            <a:ext cx="9753600" cy="16351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pic>
        <p:nvPicPr>
          <p:cNvPr id="4" name="bg object 18" descr="bg object 18">
            <a:extLst>
              <a:ext uri="{FF2B5EF4-FFF2-40B4-BE49-F238E27FC236}">
                <a16:creationId xmlns:a16="http://schemas.microsoft.com/office/drawing/2014/main" id="{FE7E9A1C-C9D6-9FFC-C822-3FA09D005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3" y="244475"/>
            <a:ext cx="21939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bg object 19" descr="bg object 19">
            <a:extLst>
              <a:ext uri="{FF2B5EF4-FFF2-40B4-BE49-F238E27FC236}">
                <a16:creationId xmlns:a16="http://schemas.microsoft.com/office/drawing/2014/main" id="{60770C33-7630-5A10-2EB7-C89939405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3" y="244475"/>
            <a:ext cx="204787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6" name="bg object 20" descr="bg object 20">
            <a:extLst>
              <a:ext uri="{FF2B5EF4-FFF2-40B4-BE49-F238E27FC236}">
                <a16:creationId xmlns:a16="http://schemas.microsoft.com/office/drawing/2014/main" id="{A36E16E0-0486-4940-46CD-12E7BEA6A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3" y="244475"/>
            <a:ext cx="21939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7" name="bg object 21">
            <a:extLst>
              <a:ext uri="{FF2B5EF4-FFF2-40B4-BE49-F238E27FC236}">
                <a16:creationId xmlns:a16="http://schemas.microsoft.com/office/drawing/2014/main" id="{FFF94865-8C55-EB22-72A3-08A9B73CE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75" y="0"/>
            <a:ext cx="3197225" cy="89376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pic>
        <p:nvPicPr>
          <p:cNvPr id="8" name="bg object 22" descr="bg object 22">
            <a:extLst>
              <a:ext uri="{FF2B5EF4-FFF2-40B4-BE49-F238E27FC236}">
                <a16:creationId xmlns:a16="http://schemas.microsoft.com/office/drawing/2014/main" id="{687AFDD3-6C55-F2F6-B4B3-5B39D2496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3" y="244475"/>
            <a:ext cx="21939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9" name="bg object 23">
            <a:extLst>
              <a:ext uri="{FF2B5EF4-FFF2-40B4-BE49-F238E27FC236}">
                <a16:creationId xmlns:a16="http://schemas.microsoft.com/office/drawing/2014/main" id="{1AD31607-65E5-75CB-5A6F-D10795D16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775" y="203200"/>
            <a:ext cx="2212975" cy="7318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pic>
        <p:nvPicPr>
          <p:cNvPr id="10" name="bg object 24" descr="bg object 24">
            <a:extLst>
              <a:ext uri="{FF2B5EF4-FFF2-40B4-BE49-F238E27FC236}">
                <a16:creationId xmlns:a16="http://schemas.microsoft.com/office/drawing/2014/main" id="{1D383E6E-575C-0EB8-8479-6FF8249C6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3" y="244475"/>
            <a:ext cx="204787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31519" y="2267711"/>
            <a:ext cx="8290561" cy="153619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63039" y="4096511"/>
            <a:ext cx="6827521" cy="18288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4944E9C7-D03D-6378-9A5E-4CBA45158CBB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AC95F7-1B08-4A1E-9953-8969E5B69FD1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235334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92998" y="1124895"/>
            <a:ext cx="3595372" cy="57404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807736" y="1689991"/>
            <a:ext cx="5208906" cy="467169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0BAFBC3-DE5E-D134-2E8B-E953E0F7F8E5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85CC4-1C30-4521-94AE-4A5E1C387E94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31637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92998" y="1124895"/>
            <a:ext cx="3595372" cy="57404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5240" y="2156972"/>
            <a:ext cx="3882391" cy="41605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900"/>
            </a:lvl1pPr>
            <a:lvl2pPr>
              <a:defRPr sz="1900"/>
            </a:lvl2pPr>
            <a:lvl3pPr>
              <a:defRPr sz="1900"/>
            </a:lvl3pPr>
            <a:lvl4pPr>
              <a:defRPr sz="1900"/>
            </a:lvl4pPr>
            <a:lvl5pPr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5903800-85E2-9E52-1366-45191CE86AE0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2F887-50A0-4EF0-BAEC-B77AA922DA1F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496387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92998" y="1124895"/>
            <a:ext cx="3595372" cy="57404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26C5A6F2-3F41-AC06-546D-3B8DADA475B2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2B8446-85F9-4F63-848E-28E88C82CDC9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262274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D9077107-1CE0-0234-E373-4F3DE31B3CA0}"/>
              </a:ext>
            </a:extLst>
          </p:cNvPr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B7A33B-5ED4-489A-8C1F-20BE5D18D600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891248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bg object 16">
            <a:extLst>
              <a:ext uri="{FF2B5EF4-FFF2-40B4-BE49-F238E27FC236}">
                <a16:creationId xmlns:a16="http://schemas.microsoft.com/office/drawing/2014/main" id="{98759105-8C91-097F-B4C5-C7D51CE62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752013" cy="89376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1027" name="bg object 17">
            <a:extLst>
              <a:ext uri="{FF2B5EF4-FFF2-40B4-BE49-F238E27FC236}">
                <a16:creationId xmlns:a16="http://schemas.microsoft.com/office/drawing/2014/main" id="{4A18C5F3-4151-1262-A859-0CB05629D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151688"/>
            <a:ext cx="9753600" cy="163512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pic>
        <p:nvPicPr>
          <p:cNvPr id="1028" name="bg object 18" descr="bg object 18">
            <a:extLst>
              <a:ext uri="{FF2B5EF4-FFF2-40B4-BE49-F238E27FC236}">
                <a16:creationId xmlns:a16="http://schemas.microsoft.com/office/drawing/2014/main" id="{3D3BA28E-5289-E204-8073-EF429EFA8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3" y="244475"/>
            <a:ext cx="21939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29" name="bg object 19" descr="bg object 19">
            <a:extLst>
              <a:ext uri="{FF2B5EF4-FFF2-40B4-BE49-F238E27FC236}">
                <a16:creationId xmlns:a16="http://schemas.microsoft.com/office/drawing/2014/main" id="{5900B548-E6EF-6F39-5634-C56A28BB8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3" y="244475"/>
            <a:ext cx="204787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30" name="bg object 20" descr="bg object 20">
            <a:extLst>
              <a:ext uri="{FF2B5EF4-FFF2-40B4-BE49-F238E27FC236}">
                <a16:creationId xmlns:a16="http://schemas.microsoft.com/office/drawing/2014/main" id="{368C91BD-68CC-7C36-05D7-179BB61FB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3" y="244475"/>
            <a:ext cx="21939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031" name="bg object 21">
            <a:extLst>
              <a:ext uri="{FF2B5EF4-FFF2-40B4-BE49-F238E27FC236}">
                <a16:creationId xmlns:a16="http://schemas.microsoft.com/office/drawing/2014/main" id="{59E759B1-18EB-D392-AD72-60F5577E6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75" y="0"/>
            <a:ext cx="3197225" cy="89376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pic>
        <p:nvPicPr>
          <p:cNvPr id="1032" name="bg object 22" descr="bg object 22">
            <a:extLst>
              <a:ext uri="{FF2B5EF4-FFF2-40B4-BE49-F238E27FC236}">
                <a16:creationId xmlns:a16="http://schemas.microsoft.com/office/drawing/2014/main" id="{F8DB5DE8-2219-E7D9-529D-73EE4A583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3" y="244475"/>
            <a:ext cx="219392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033" name="bg object 23">
            <a:extLst>
              <a:ext uri="{FF2B5EF4-FFF2-40B4-BE49-F238E27FC236}">
                <a16:creationId xmlns:a16="http://schemas.microsoft.com/office/drawing/2014/main" id="{2F273CFA-4654-89EE-9A39-DB6CFDF89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775" y="203200"/>
            <a:ext cx="2212975" cy="7318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pic>
        <p:nvPicPr>
          <p:cNvPr id="1034" name="bg object 24" descr="bg object 24">
            <a:extLst>
              <a:ext uri="{FF2B5EF4-FFF2-40B4-BE49-F238E27FC236}">
                <a16:creationId xmlns:a16="http://schemas.microsoft.com/office/drawing/2014/main" id="{CB1748F3-D4DF-69BB-DB6D-D59B48FC7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9763" y="244475"/>
            <a:ext cx="204787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035" name="Title Text">
            <a:extLst>
              <a:ext uri="{FF2B5EF4-FFF2-40B4-BE49-F238E27FC236}">
                <a16:creationId xmlns:a16="http://schemas.microsoft.com/office/drawing/2014/main" id="{EA638CCB-BAF9-E939-D9D3-2C440788DE4A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87363" y="293688"/>
            <a:ext cx="8778875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Times New Roman" panose="02020603050405020304" pitchFamily="18" charset="0"/>
              </a:rPr>
              <a:t>Title Text</a:t>
            </a:r>
          </a:p>
        </p:txBody>
      </p:sp>
      <p:sp>
        <p:nvSpPr>
          <p:cNvPr id="1036" name="Body Level One…">
            <a:extLst>
              <a:ext uri="{FF2B5EF4-FFF2-40B4-BE49-F238E27FC236}">
                <a16:creationId xmlns:a16="http://schemas.microsoft.com/office/drawing/2014/main" id="{F798EFC7-8FAE-BFF8-9C80-71F1C58B432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87363" y="1706563"/>
            <a:ext cx="8778875" cy="560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Times New Roman" panose="02020603050405020304" pitchFamily="18" charset="0"/>
              </a:rPr>
              <a:t>Body Level One</a:t>
            </a:r>
          </a:p>
          <a:p>
            <a:pPr lvl="1"/>
            <a:r>
              <a:rPr lang="en-US" altLang="en-US">
                <a:sym typeface="Times New Roman" panose="02020603050405020304" pitchFamily="18" charset="0"/>
              </a:rPr>
              <a:t>Body Level Two</a:t>
            </a:r>
          </a:p>
          <a:p>
            <a:pPr lvl="2"/>
            <a:r>
              <a:rPr lang="en-US" altLang="en-US">
                <a:sym typeface="Times New Roman" panose="02020603050405020304" pitchFamily="18" charset="0"/>
              </a:rPr>
              <a:t>Body Level Three</a:t>
            </a:r>
          </a:p>
          <a:p>
            <a:pPr lvl="3"/>
            <a:r>
              <a:rPr lang="en-US" altLang="en-US">
                <a:sym typeface="Times New Roman" panose="02020603050405020304" pitchFamily="18" charset="0"/>
              </a:rPr>
              <a:t>Body Level Four</a:t>
            </a:r>
          </a:p>
          <a:p>
            <a:pPr lvl="4"/>
            <a:r>
              <a:rPr lang="en-US" altLang="en-US">
                <a:sym typeface="Times New Roman" panose="02020603050405020304" pitchFamily="18" charset="0"/>
              </a:rPr>
              <a:t>Body Level Five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824EFEF9-BB9C-26DE-A3F2-441421AA5BCD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9088438" y="6864350"/>
            <a:ext cx="173037" cy="16986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indent="12700" eaLnBrk="1" fontAlgn="auto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200" b="1" kern="0" spc="-25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/>
            </a:pPr>
            <a:fld id="{8FB2C489-9BD6-49D8-9B84-9631CA910821}" type="slidenum">
              <a:rPr/>
              <a:pPr>
                <a:defRPr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5" r:id="rId2"/>
    <p:sldLayoutId id="2147483656" r:id="rId3"/>
    <p:sldLayoutId id="2147483657" r:id="rId4"/>
    <p:sldLayoutId id="2147483658" r:id="rId5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Times New Roman"/>
          <a:ea typeface="Times New Roman"/>
          <a:cs typeface="Times New Roman"/>
          <a:sym typeface="Times New Roman" panose="02020603050405020304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Times New Roman"/>
          <a:ea typeface="Times New Roman"/>
          <a:cs typeface="Times New Roman"/>
          <a:sym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Times New Roman"/>
          <a:ea typeface="Times New Roman"/>
          <a:cs typeface="Times New Roman"/>
          <a:sym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Times New Roman"/>
          <a:ea typeface="Times New Roman"/>
          <a:cs typeface="Times New Roman"/>
          <a:sym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00"/>
          </a:solidFill>
          <a:latin typeface="Times New Roman"/>
          <a:ea typeface="Times New Roman"/>
          <a:cs typeface="Times New Roman"/>
          <a:sym typeface="Times New Roman" panose="02020603050405020304" pitchFamily="18" charset="0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titleStyle>
    <p:body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imes New Roman"/>
          <a:ea typeface="Times New Roman"/>
          <a:cs typeface="Times New Roman"/>
          <a:sym typeface="Times New Roman" panose="02020603050405020304" pitchFamily="18" charset="0"/>
        </a:defRPr>
      </a:lvl1pPr>
      <a:lvl2pPr indent="4572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imes New Roman"/>
          <a:ea typeface="Times New Roman"/>
          <a:cs typeface="Times New Roman"/>
          <a:sym typeface="Times New Roman" panose="02020603050405020304" pitchFamily="18" charset="0"/>
        </a:defRPr>
      </a:lvl2pPr>
      <a:lvl3pPr indent="9144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imes New Roman"/>
          <a:ea typeface="Times New Roman"/>
          <a:cs typeface="Times New Roman"/>
          <a:sym typeface="Times New Roman" panose="02020603050405020304" pitchFamily="18" charset="0"/>
        </a:defRPr>
      </a:lvl3pPr>
      <a:lvl4pPr indent="13716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imes New Roman"/>
          <a:ea typeface="Times New Roman"/>
          <a:cs typeface="Times New Roman"/>
          <a:sym typeface="Times New Roman" panose="02020603050405020304" pitchFamily="18" charset="0"/>
        </a:defRPr>
      </a:lvl4pPr>
      <a:lvl5pPr indent="1828800"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imes New Roman"/>
          <a:ea typeface="Times New Roman"/>
          <a:cs typeface="Times New Roman"/>
          <a:sym typeface="Times New Roman" panose="02020603050405020304" pitchFamily="18" charset="0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rgbClr val="000000"/>
          </a:solidFill>
          <a:uFillTx/>
          <a:latin typeface="Times New Roman"/>
          <a:ea typeface="Times New Roman"/>
          <a:cs typeface="Times New Roman"/>
          <a:sym typeface="Times New Roman"/>
        </a:defRPr>
      </a:lvl9pPr>
    </p:bodyStyle>
    <p:otherStyle>
      <a:lvl1pPr marL="0" marR="0" indent="12700" algn="l" defTabSz="914400" rtl="0" latinLnBrk="0">
        <a:lnSpc>
          <a:spcPts val="13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l" defTabSz="914400" rtl="0" latinLnBrk="0">
        <a:lnSpc>
          <a:spcPts val="13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l" defTabSz="914400" rtl="0" latinLnBrk="0">
        <a:lnSpc>
          <a:spcPts val="13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l" defTabSz="914400" rtl="0" latinLnBrk="0">
        <a:lnSpc>
          <a:spcPts val="13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l" defTabSz="914400" rtl="0" latinLnBrk="0">
        <a:lnSpc>
          <a:spcPts val="13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l" defTabSz="914400" rtl="0" latinLnBrk="0">
        <a:lnSpc>
          <a:spcPts val="13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l" defTabSz="914400" rtl="0" latinLnBrk="0">
        <a:lnSpc>
          <a:spcPts val="13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l" defTabSz="914400" rtl="0" latinLnBrk="0">
        <a:lnSpc>
          <a:spcPts val="13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l" defTabSz="914400" rtl="0" latinLnBrk="0">
        <a:lnSpc>
          <a:spcPts val="13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1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bject 2">
            <a:extLst>
              <a:ext uri="{FF2B5EF4-FFF2-40B4-BE49-F238E27FC236}">
                <a16:creationId xmlns:a16="http://schemas.microsoft.com/office/drawing/2014/main" id="{D0E17993-6877-A881-BFF0-8951E56F8B02}"/>
              </a:ext>
            </a:extLst>
          </p:cNvPr>
          <p:cNvSpPr txBox="1"/>
          <p:nvPr/>
        </p:nvSpPr>
        <p:spPr>
          <a:xfrm>
            <a:off x="1031875" y="1190625"/>
            <a:ext cx="7689850" cy="466473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t">
            <a:spAutoFit/>
          </a:bodyPr>
          <a:lstStyle/>
          <a:p>
            <a:pPr algn="ctr" eaLnBrk="1">
              <a:lnSpc>
                <a:spcPts val="2200"/>
              </a:lnSpc>
              <a:spcBef>
                <a:spcPts val="100"/>
              </a:spcBef>
            </a:pPr>
            <a:r>
              <a:rPr lang="en-US" altLang="en-US" sz="1900" b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Project Presentation of CO-OP Project at Industry (Module-2) (22CS421)</a:t>
            </a:r>
          </a:p>
          <a:p>
            <a:pPr algn="ctr" eaLnBrk="1">
              <a:lnSpc>
                <a:spcPts val="2400"/>
              </a:lnSpc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510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GAN for Synthetic Data</a:t>
            </a:r>
            <a:endParaRPr lang="en-US">
              <a:sym typeface="Times New Roman" panose="02020603050405020304" pitchFamily="18" charset="0"/>
            </a:endParaRPr>
          </a:p>
          <a:p>
            <a:pPr algn="ctr"/>
            <a:r>
              <a:rPr lang="en-US" sz="510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Generation</a:t>
            </a:r>
            <a:endParaRPr lang="en-US" sz="2800">
              <a:ea typeface="Calibri"/>
            </a:endParaRPr>
          </a:p>
          <a:p>
            <a:pPr algn="ctr">
              <a:lnSpc>
                <a:spcPct val="101000"/>
              </a:lnSpc>
              <a:spcBef>
                <a:spcPts val="2400"/>
              </a:spcBef>
            </a:pPr>
            <a:r>
              <a:rPr lang="en-US" sz="210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Lakshya Yadav(2210991846) , Gaurav Singh(2210991572), Eklavya Gehlawat(2210991553), Sudhanshi Garg(2210992413)</a:t>
            </a:r>
            <a:endParaRPr lang="en-US"/>
          </a:p>
          <a:p>
            <a:pPr algn="ctr" eaLnBrk="1">
              <a:lnSpc>
                <a:spcPct val="101000"/>
              </a:lnSpc>
              <a:spcBef>
                <a:spcPts val="1700"/>
              </a:spcBef>
            </a:pPr>
            <a:r>
              <a:rPr lang="en-US" altLang="en-US" sz="21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Supervised By Simar Vikk</a:t>
            </a:r>
          </a:p>
          <a:p>
            <a:pPr eaLnBrk="1">
              <a:lnSpc>
                <a:spcPts val="3000"/>
              </a:lnSpc>
              <a:spcBef>
                <a:spcPts val="1800"/>
              </a:spcBef>
            </a:pPr>
            <a:r>
              <a:rPr lang="en-US" altLang="en-US" sz="25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Department of Computer Science and Engineering, Chitkara University, Punjab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2">
            <a:extLst>
              <a:ext uri="{FF2B5EF4-FFF2-40B4-BE49-F238E27FC236}">
                <a16:creationId xmlns:a16="http://schemas.microsoft.com/office/drawing/2014/main" id="{AEFC4AD1-2C3F-77D3-547B-9E91B757AE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3713" y="1125538"/>
            <a:ext cx="3594100" cy="573087"/>
          </a:xfr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>
                <a:sym typeface="Times New Roman"/>
              </a:rPr>
              <a:t>Objective</a:t>
            </a:r>
          </a:p>
        </p:txBody>
      </p:sp>
      <p:grpSp>
        <p:nvGrpSpPr>
          <p:cNvPr id="5123" name="object 3">
            <a:extLst>
              <a:ext uri="{FF2B5EF4-FFF2-40B4-BE49-F238E27FC236}">
                <a16:creationId xmlns:a16="http://schemas.microsoft.com/office/drawing/2014/main" id="{692FD165-E2A6-ED58-0758-21101F35B7C1}"/>
              </a:ext>
            </a:extLst>
          </p:cNvPr>
          <p:cNvGrpSpPr>
            <a:grpSpLocks/>
          </p:cNvGrpSpPr>
          <p:nvPr/>
        </p:nvGrpSpPr>
        <p:grpSpPr bwMode="auto">
          <a:xfrm>
            <a:off x="506413" y="2008188"/>
            <a:ext cx="3890962" cy="2195512"/>
            <a:chOff x="0" y="0"/>
            <a:chExt cx="3891913" cy="2194559"/>
          </a:xfrm>
        </p:grpSpPr>
        <p:sp>
          <p:nvSpPr>
            <p:cNvPr id="5139" name="object 4">
              <a:extLst>
                <a:ext uri="{FF2B5EF4-FFF2-40B4-BE49-F238E27FC236}">
                  <a16:creationId xmlns:a16="http://schemas.microsoft.com/office/drawing/2014/main" id="{A9CFF7F1-CB66-191B-3823-5E444DBD4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91914" cy="2194560"/>
            </a:xfrm>
            <a:prstGeom prst="rect">
              <a:avLst/>
            </a:prstGeom>
            <a:solidFill>
              <a:srgbClr val="FAF5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5140" name="object 5">
              <a:extLst>
                <a:ext uri="{FF2B5EF4-FFF2-40B4-BE49-F238E27FC236}">
                  <a16:creationId xmlns:a16="http://schemas.microsoft.com/office/drawing/2014/main" id="{A28F61D1-CAF9-E209-533B-0083126B2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" y="0"/>
              <a:ext cx="3886185" cy="2190750"/>
            </a:xfrm>
            <a:custGeom>
              <a:avLst/>
              <a:gdLst>
                <a:gd name="T0" fmla="*/ 1943093 w 21600"/>
                <a:gd name="T1" fmla="*/ 1095375 h 21600"/>
                <a:gd name="T2" fmla="*/ 1943093 w 21600"/>
                <a:gd name="T3" fmla="*/ 1095375 h 21600"/>
                <a:gd name="T4" fmla="*/ 1943093 w 21600"/>
                <a:gd name="T5" fmla="*/ 1095375 h 21600"/>
                <a:gd name="T6" fmla="*/ 1943093 w 21600"/>
                <a:gd name="T7" fmla="*/ 109537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19049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19" tIns="45719" rIns="45719" bIns="45719"/>
            <a:lstStyle/>
            <a:p>
              <a:endParaRPr lang="en-US"/>
            </a:p>
          </p:txBody>
        </p:sp>
      </p:grpSp>
      <p:grpSp>
        <p:nvGrpSpPr>
          <p:cNvPr id="5124" name="object 6">
            <a:extLst>
              <a:ext uri="{FF2B5EF4-FFF2-40B4-BE49-F238E27FC236}">
                <a16:creationId xmlns:a16="http://schemas.microsoft.com/office/drawing/2014/main" id="{CE13E4AB-3D47-7C9C-E9DB-AA79C7AEB1C5}"/>
              </a:ext>
            </a:extLst>
          </p:cNvPr>
          <p:cNvGrpSpPr>
            <a:grpSpLocks/>
          </p:cNvGrpSpPr>
          <p:nvPr/>
        </p:nvGrpSpPr>
        <p:grpSpPr bwMode="auto">
          <a:xfrm>
            <a:off x="506413" y="4389438"/>
            <a:ext cx="3890962" cy="2193925"/>
            <a:chOff x="0" y="0"/>
            <a:chExt cx="3891913" cy="2194560"/>
          </a:xfrm>
        </p:grpSpPr>
        <p:sp>
          <p:nvSpPr>
            <p:cNvPr id="5137" name="object 7">
              <a:extLst>
                <a:ext uri="{FF2B5EF4-FFF2-40B4-BE49-F238E27FC236}">
                  <a16:creationId xmlns:a16="http://schemas.microsoft.com/office/drawing/2014/main" id="{58AE769E-E438-9F91-21C0-2EC16C132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91914" cy="2194561"/>
            </a:xfrm>
            <a:prstGeom prst="rect">
              <a:avLst/>
            </a:prstGeom>
            <a:solidFill>
              <a:srgbClr val="FAF5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5138" name="object 8">
              <a:extLst>
                <a:ext uri="{FF2B5EF4-FFF2-40B4-BE49-F238E27FC236}">
                  <a16:creationId xmlns:a16="http://schemas.microsoft.com/office/drawing/2014/main" id="{EB26C69D-AA9E-8B6F-FAC7-DCB188E58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" y="0"/>
              <a:ext cx="3886185" cy="2190750"/>
            </a:xfrm>
            <a:custGeom>
              <a:avLst/>
              <a:gdLst>
                <a:gd name="T0" fmla="*/ 1943093 w 21600"/>
                <a:gd name="T1" fmla="*/ 1095375 h 21600"/>
                <a:gd name="T2" fmla="*/ 1943093 w 21600"/>
                <a:gd name="T3" fmla="*/ 1095375 h 21600"/>
                <a:gd name="T4" fmla="*/ 1943093 w 21600"/>
                <a:gd name="T5" fmla="*/ 1095375 h 21600"/>
                <a:gd name="T6" fmla="*/ 1943093 w 21600"/>
                <a:gd name="T7" fmla="*/ 109537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19049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19" tIns="45719" rIns="45719" bIns="45719"/>
            <a:lstStyle/>
            <a:p>
              <a:endParaRPr lang="en-US"/>
            </a:p>
          </p:txBody>
        </p:sp>
      </p:grpSp>
      <p:grpSp>
        <p:nvGrpSpPr>
          <p:cNvPr id="5125" name="object 10">
            <a:extLst>
              <a:ext uri="{FF2B5EF4-FFF2-40B4-BE49-F238E27FC236}">
                <a16:creationId xmlns:a16="http://schemas.microsoft.com/office/drawing/2014/main" id="{0F55550C-7E13-7329-DB09-CF75856AFCF2}"/>
              </a:ext>
            </a:extLst>
          </p:cNvPr>
          <p:cNvGrpSpPr>
            <a:grpSpLocks/>
          </p:cNvGrpSpPr>
          <p:nvPr/>
        </p:nvGrpSpPr>
        <p:grpSpPr bwMode="auto">
          <a:xfrm>
            <a:off x="4826000" y="2008188"/>
            <a:ext cx="3892550" cy="2195512"/>
            <a:chOff x="0" y="0"/>
            <a:chExt cx="3891913" cy="2194559"/>
          </a:xfrm>
        </p:grpSpPr>
        <p:sp>
          <p:nvSpPr>
            <p:cNvPr id="5135" name="object 11">
              <a:extLst>
                <a:ext uri="{FF2B5EF4-FFF2-40B4-BE49-F238E27FC236}">
                  <a16:creationId xmlns:a16="http://schemas.microsoft.com/office/drawing/2014/main" id="{2A7D4D05-946F-8A7C-6D66-BC8A24974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91914" cy="2194560"/>
            </a:xfrm>
            <a:prstGeom prst="rect">
              <a:avLst/>
            </a:prstGeom>
            <a:solidFill>
              <a:srgbClr val="FAF5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5136" name="object 12">
              <a:extLst>
                <a:ext uri="{FF2B5EF4-FFF2-40B4-BE49-F238E27FC236}">
                  <a16:creationId xmlns:a16="http://schemas.microsoft.com/office/drawing/2014/main" id="{35FC7ED1-A607-DEC3-7427-7BA10A20F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" y="0"/>
              <a:ext cx="3886184" cy="2190750"/>
            </a:xfrm>
            <a:custGeom>
              <a:avLst/>
              <a:gdLst>
                <a:gd name="T0" fmla="*/ 1943092 w 21600"/>
                <a:gd name="T1" fmla="*/ 1095375 h 21600"/>
                <a:gd name="T2" fmla="*/ 1943092 w 21600"/>
                <a:gd name="T3" fmla="*/ 1095375 h 21600"/>
                <a:gd name="T4" fmla="*/ 1943092 w 21600"/>
                <a:gd name="T5" fmla="*/ 1095375 h 21600"/>
                <a:gd name="T6" fmla="*/ 1943092 w 21600"/>
                <a:gd name="T7" fmla="*/ 109537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19049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19" tIns="45719" rIns="45719" bIns="45719"/>
            <a:lstStyle/>
            <a:p>
              <a:endParaRPr lang="en-US"/>
            </a:p>
          </p:txBody>
        </p:sp>
      </p:grpSp>
      <p:grpSp>
        <p:nvGrpSpPr>
          <p:cNvPr id="5126" name="object 14">
            <a:extLst>
              <a:ext uri="{FF2B5EF4-FFF2-40B4-BE49-F238E27FC236}">
                <a16:creationId xmlns:a16="http://schemas.microsoft.com/office/drawing/2014/main" id="{E1D3AB13-8460-3AB8-29B0-3CEC4F118717}"/>
              </a:ext>
            </a:extLst>
          </p:cNvPr>
          <p:cNvGrpSpPr>
            <a:grpSpLocks/>
          </p:cNvGrpSpPr>
          <p:nvPr/>
        </p:nvGrpSpPr>
        <p:grpSpPr bwMode="auto">
          <a:xfrm>
            <a:off x="4717179" y="4395179"/>
            <a:ext cx="3892550" cy="2195512"/>
            <a:chOff x="0" y="0"/>
            <a:chExt cx="3891913" cy="2194560"/>
          </a:xfrm>
        </p:grpSpPr>
        <p:sp>
          <p:nvSpPr>
            <p:cNvPr id="5133" name="object 15">
              <a:extLst>
                <a:ext uri="{FF2B5EF4-FFF2-40B4-BE49-F238E27FC236}">
                  <a16:creationId xmlns:a16="http://schemas.microsoft.com/office/drawing/2014/main" id="{7ECD0684-5856-1F42-0B0C-3DB82F21D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91914" cy="2194561"/>
            </a:xfrm>
            <a:prstGeom prst="rect">
              <a:avLst/>
            </a:prstGeom>
            <a:solidFill>
              <a:srgbClr val="FAF5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45719" tIns="45719" rIns="45719" bIns="45719"/>
            <a:lstStyle/>
            <a:p>
              <a:pPr eaLnBrk="1"/>
              <a:endParaRPr lang="en-US" altLang="en-US"/>
            </a:p>
          </p:txBody>
        </p:sp>
        <p:sp>
          <p:nvSpPr>
            <p:cNvPr id="5134" name="object 16">
              <a:extLst>
                <a:ext uri="{FF2B5EF4-FFF2-40B4-BE49-F238E27FC236}">
                  <a16:creationId xmlns:a16="http://schemas.microsoft.com/office/drawing/2014/main" id="{5B883B3E-E0B8-8E3C-24A6-39CC12CD6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" y="0"/>
              <a:ext cx="3886184" cy="2190750"/>
            </a:xfrm>
            <a:custGeom>
              <a:avLst/>
              <a:gdLst>
                <a:gd name="T0" fmla="*/ 1943092 w 21600"/>
                <a:gd name="T1" fmla="*/ 1095375 h 21600"/>
                <a:gd name="T2" fmla="*/ 1943092 w 21600"/>
                <a:gd name="T3" fmla="*/ 1095375 h 21600"/>
                <a:gd name="T4" fmla="*/ 1943092 w 21600"/>
                <a:gd name="T5" fmla="*/ 1095375 h 21600"/>
                <a:gd name="T6" fmla="*/ 1943092 w 21600"/>
                <a:gd name="T7" fmla="*/ 1095375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0"/>
                  </a:lnTo>
                </a:path>
              </a:pathLst>
            </a:custGeom>
            <a:noFill/>
            <a:ln w="19049" cap="flat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45719" tIns="45719" rIns="45719" bIns="45719"/>
            <a:lstStyle/>
            <a:p>
              <a:endParaRPr lang="en-US"/>
            </a:p>
          </p:txBody>
        </p:sp>
      </p:grpSp>
      <p:sp>
        <p:nvSpPr>
          <p:cNvPr id="5127" name="object 18">
            <a:extLst>
              <a:ext uri="{FF2B5EF4-FFF2-40B4-BE49-F238E27FC236}">
                <a16:creationId xmlns:a16="http://schemas.microsoft.com/office/drawing/2014/main" id="{9C04EEDF-9C55-F28D-7CA5-54AF30D49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69100"/>
            <a:ext cx="76200" cy="54610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/>
          <a:lstStyle/>
          <a:p>
            <a:pPr eaLnBrk="1"/>
            <a:endParaRPr lang="en-US" altLang="en-US"/>
          </a:p>
        </p:txBody>
      </p:sp>
      <p:sp>
        <p:nvSpPr>
          <p:cNvPr id="89" name="object 19">
            <a:extLst>
              <a:ext uri="{FF2B5EF4-FFF2-40B4-BE49-F238E27FC236}">
                <a16:creationId xmlns:a16="http://schemas.microsoft.com/office/drawing/2014/main" id="{B976BB3E-F307-E30F-25CF-1334E2CE26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88438" y="6864350"/>
            <a:ext cx="127000" cy="169863"/>
          </a:xfrm>
        </p:spPr>
        <p:txBody>
          <a:bodyPr/>
          <a:lstStyle/>
          <a:p>
            <a:pPr>
              <a:defRPr/>
            </a:pPr>
            <a:fld id="{83DFDA36-F4AD-4B5D-BA63-F0BF183ED508}" type="slidenum">
              <a:rPr/>
              <a:pPr>
                <a:defRPr/>
              </a:pPr>
              <a:t>2</a:t>
            </a:fld>
            <a:endParaRPr/>
          </a:p>
        </p:txBody>
      </p:sp>
      <p:sp>
        <p:nvSpPr>
          <p:cNvPr id="5129" name="Taxonomies…">
            <a:extLst>
              <a:ext uri="{FF2B5EF4-FFF2-40B4-BE49-F238E27FC236}">
                <a16:creationId xmlns:a16="http://schemas.microsoft.com/office/drawing/2014/main" id="{E192DFEC-55B2-4125-CB7E-740259226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1998663"/>
            <a:ext cx="3859212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tIns="45720" rIns="45719" bIns="45720" anchor="t"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Review GAN Architectures </a:t>
            </a:r>
          </a:p>
          <a:p>
            <a:endParaRPr lang="en-US" dirty="0">
              <a:latin typeface="Calibri"/>
              <a:ea typeface="Calibri"/>
              <a:cs typeface="Calibri"/>
              <a:sym typeface="Times New Roman" panose="02020603050405020304" pitchFamily="18" charset="0"/>
            </a:endParaRPr>
          </a:p>
          <a:p>
            <a:r>
              <a:rPr lang="en-US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Survey and categorize 23+ GAN architectures introduced between 2014–2024 into a structured three-tier taxonomy.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5130" name="Benchmark…">
            <a:extLst>
              <a:ext uri="{FF2B5EF4-FFF2-40B4-BE49-F238E27FC236}">
                <a16:creationId xmlns:a16="http://schemas.microsoft.com/office/drawing/2014/main" id="{D5321ECC-5280-6500-05D0-1127C6F07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4370388"/>
            <a:ext cx="385762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tIns="45720" rIns="45719" bIns="45720" anchor="t">
            <a:spAutoFit/>
          </a:bodyPr>
          <a:lstStyle/>
          <a:p>
            <a:r>
              <a:rPr lang="en-US" b="1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Highlight Open Challenges </a:t>
            </a:r>
          </a:p>
          <a:p>
            <a:endParaRPr lang="en-US" b="1" dirty="0">
              <a:latin typeface="Calibri"/>
              <a:ea typeface="Calibri"/>
              <a:cs typeface="Calibri"/>
              <a:sym typeface="Times New Roman" panose="02020603050405020304" pitchFamily="18" charset="0"/>
            </a:endParaRPr>
          </a:p>
          <a:p>
            <a:r>
              <a:rPr lang="en-US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Discuss unresolved issues including evaluation standardization, scalability, privacy concerns, and dual-use governance risks.</a:t>
            </a:r>
            <a:endParaRPr lang="en-US"/>
          </a:p>
        </p:txBody>
      </p:sp>
      <p:sp>
        <p:nvSpPr>
          <p:cNvPr id="5131" name="Analyse…">
            <a:extLst>
              <a:ext uri="{FF2B5EF4-FFF2-40B4-BE49-F238E27FC236}">
                <a16:creationId xmlns:a16="http://schemas.microsoft.com/office/drawing/2014/main" id="{A080D270-1E85-B734-7FD0-C08614760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7588" y="2009775"/>
            <a:ext cx="388937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tIns="45720" rIns="45719" bIns="45720" anchor="t">
            <a:sp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Analyze Training &amp; Loss Functions </a:t>
            </a:r>
          </a:p>
          <a:p>
            <a:endParaRPr lang="en-US" b="1" dirty="0">
              <a:latin typeface="Calibri"/>
              <a:ea typeface="Calibri"/>
              <a:cs typeface="Calibri"/>
              <a:sym typeface="Times New Roman" panose="02020603050405020304" pitchFamily="18" charset="0"/>
            </a:endParaRPr>
          </a:p>
          <a:p>
            <a:r>
              <a:rPr lang="en-US" dirty="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 </a:t>
            </a:r>
            <a:r>
              <a:rPr lang="en-US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Examine how different training </a:t>
            </a:r>
            <a:r>
              <a:rPr lang="en-US" dirty="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strategies and loss functions (e.g., Wasserstein loss, gradient penalty) impact GAN stability and performance.</a:t>
            </a: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5132" name="Automate…">
            <a:extLst>
              <a:ext uri="{FF2B5EF4-FFF2-40B4-BE49-F238E27FC236}">
                <a16:creationId xmlns:a16="http://schemas.microsoft.com/office/drawing/2014/main" id="{9FA5829C-2C2F-E991-5273-3139D2363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4392613"/>
            <a:ext cx="389096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just"/>
            <a:r>
              <a:rPr lang="en-US" b="1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Compare Performance Metrics </a:t>
            </a:r>
            <a:endParaRPr lang="en-US" b="1">
              <a:ea typeface="Calibri"/>
              <a:sym typeface="Times New Roman" panose="02020603050405020304" pitchFamily="18" charset="0"/>
            </a:endParaRPr>
          </a:p>
          <a:p>
            <a:pPr algn="just"/>
            <a:endParaRPr lang="en-US" b="1" dirty="0">
              <a:latin typeface="Calibri"/>
              <a:ea typeface="Calibri"/>
              <a:cs typeface="Calibri"/>
              <a:sym typeface="Times New Roman" panose="02020603050405020304" pitchFamily="18" charset="0"/>
            </a:endParaRPr>
          </a:p>
          <a:p>
            <a:pPr algn="just"/>
            <a:r>
              <a:rPr lang="en-US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Evaluate and compare GAN models across image (FID, IS), tabular (TSTR), and time-series (discriminative &amp; predictive scores) domains.</a:t>
            </a:r>
            <a:endParaRPr lang="en-US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object 15">
            <a:extLst>
              <a:ext uri="{FF2B5EF4-FFF2-40B4-BE49-F238E27FC236}">
                <a16:creationId xmlns:a16="http://schemas.microsoft.com/office/drawing/2014/main" id="{4EFEEAA2-1179-310E-6CC9-B304ACAF54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88438" y="6864350"/>
            <a:ext cx="127000" cy="169863"/>
          </a:xfrm>
        </p:spPr>
        <p:txBody>
          <a:bodyPr/>
          <a:lstStyle/>
          <a:p>
            <a:pPr>
              <a:defRPr/>
            </a:pPr>
            <a:fld id="{6B497CE0-3BFA-4E95-884E-B76089F864E4}" type="slidenum">
              <a:rPr/>
              <a:pPr>
                <a:defRPr/>
              </a:pPr>
              <a:t>3</a:t>
            </a:fld>
            <a:endParaRPr/>
          </a:p>
        </p:txBody>
      </p:sp>
      <p:sp>
        <p:nvSpPr>
          <p:cNvPr id="99" name="object 14">
            <a:extLst>
              <a:ext uri="{FF2B5EF4-FFF2-40B4-BE49-F238E27FC236}">
                <a16:creationId xmlns:a16="http://schemas.microsoft.com/office/drawing/2014/main" id="{A7F97510-E024-D16B-A22C-D62779DC6A0F}"/>
              </a:ext>
            </a:extLst>
          </p:cNvPr>
          <p:cNvSpPr txBox="1"/>
          <p:nvPr/>
        </p:nvSpPr>
        <p:spPr>
          <a:xfrm>
            <a:off x="3387290" y="941714"/>
            <a:ext cx="3256615" cy="55399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 indent="12700">
              <a:spcBef>
                <a:spcPts val="100"/>
              </a:spcBef>
              <a:defRPr sz="3600" b="1" spc="-1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Introduction</a:t>
            </a:r>
          </a:p>
        </p:txBody>
      </p:sp>
      <p:sp>
        <p:nvSpPr>
          <p:cNvPr id="6149" name="Large Language Models such as GPT-4, LLaMA-2, and PaLM-2 have transformed natural language processing through emergent reasoning and task-execution capabilities.…">
            <a:extLst>
              <a:ext uri="{FF2B5EF4-FFF2-40B4-BE49-F238E27FC236}">
                <a16:creationId xmlns:a16="http://schemas.microsoft.com/office/drawing/2014/main" id="{EFB31B16-B968-64AB-2787-F9F4F39E2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346" y="1328250"/>
            <a:ext cx="8842011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marL="285750" indent="-285750" algn="just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  <a:sym typeface="Times New Roman" panose="02020603050405020304" pitchFamily="18" charset="0"/>
            </a:endParaRPr>
          </a:p>
          <a:p>
            <a:pPr marL="285750" indent="-285750" algn="just">
              <a:buFont typeface="Arial"/>
              <a:buChar char="•"/>
            </a:pPr>
            <a:endParaRPr lang="en-US" sz="2000" dirty="0">
              <a:latin typeface="Calibri"/>
              <a:ea typeface="Calibri"/>
              <a:cs typeface="Calibri"/>
              <a:sym typeface="Times New Roman" panose="02020603050405020304" pitchFamily="18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Data collection &amp; labelling is costly and scarce — annotated medical images, rare driving scenarios, etc.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Synthetic data is a solution if generated samples </a:t>
            </a:r>
            <a:endParaRPr lang="en-US" sz="2000">
              <a:ea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are statistically</a:t>
            </a:r>
            <a:r>
              <a:rPr lang="en-US" sz="200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 indistinguishable from real data.</a:t>
            </a:r>
            <a:endParaRPr lang="en-US" sz="2000"/>
          </a:p>
          <a:p>
            <a:pPr marL="285750" indent="-285750" algn="just">
              <a:buFont typeface="Arial"/>
              <a:buChar char="•"/>
            </a:pPr>
            <a:endParaRPr lang="en-US" sz="2000" dirty="0">
              <a:latin typeface="Calibri"/>
              <a:ea typeface="Calibri"/>
              <a:cs typeface="Calibri"/>
              <a:sym typeface="Times New Roman" panose="02020603050405020304" pitchFamily="18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Pre-GAN models (VAEs, </a:t>
            </a:r>
            <a:r>
              <a:rPr lang="en-US" sz="2000" dirty="0" err="1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Normalising</a:t>
            </a:r>
            <a:r>
              <a:rPr lang="en-US" sz="2000" dirty="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 Flows) produced blurry, low-quality outputs</a:t>
            </a:r>
            <a:endParaRPr lang="en-US" sz="2000" dirty="0"/>
          </a:p>
          <a:p>
            <a:pPr marL="285750" indent="-285750" algn="just">
              <a:buFont typeface="Arial"/>
              <a:buChar char="•"/>
            </a:pPr>
            <a:endParaRPr lang="en-US" sz="2000" dirty="0">
              <a:latin typeface="Calibri"/>
              <a:ea typeface="Calibri"/>
              <a:cs typeface="Calibri"/>
              <a:sym typeface="Times New Roman" panose="02020603050405020304" pitchFamily="18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GANs (Goodfellow et al., 2014) revolutionized this — using a Generator vs Discriminator adversarial game to produce highly realistic synthetic data</a:t>
            </a:r>
            <a:endParaRPr lang="en-US" sz="2000"/>
          </a:p>
          <a:p>
            <a:pPr marL="285750" indent="-285750" algn="just">
              <a:buFont typeface="Arial"/>
              <a:buChar char="•"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This survey reviews 23+ GAN architectures across image, tabular, and time-series domains</a:t>
            </a:r>
            <a:endParaRPr lang="en-US" sz="200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object 16">
            <a:extLst>
              <a:ext uri="{FF2B5EF4-FFF2-40B4-BE49-F238E27FC236}">
                <a16:creationId xmlns:a16="http://schemas.microsoft.com/office/drawing/2014/main" id="{29802C2F-146A-2F18-9AFC-4EC38EA3FE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88438" y="6864350"/>
            <a:ext cx="127000" cy="169863"/>
          </a:xfrm>
        </p:spPr>
        <p:txBody>
          <a:bodyPr/>
          <a:lstStyle/>
          <a:p>
            <a:pPr>
              <a:defRPr/>
            </a:pPr>
            <a:fld id="{F7644B8D-2065-4187-AE0E-943B69B265F4}" type="slidenum">
              <a:rPr/>
              <a:pPr>
                <a:defRPr/>
              </a:pPr>
              <a:t>4</a:t>
            </a:fld>
            <a:endParaRPr/>
          </a:p>
        </p:txBody>
      </p:sp>
      <p:sp>
        <p:nvSpPr>
          <p:cNvPr id="152" name="object 15">
            <a:extLst>
              <a:ext uri="{FF2B5EF4-FFF2-40B4-BE49-F238E27FC236}">
                <a16:creationId xmlns:a16="http://schemas.microsoft.com/office/drawing/2014/main" id="{FF9CCE87-B982-2050-F6A1-26410217D0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763" y="1282854"/>
            <a:ext cx="4725566" cy="415771"/>
          </a:xfrm>
        </p:spPr>
        <p:txBody>
          <a:bodyPr>
            <a:normAutofit fontScale="90000"/>
          </a:bodyPr>
          <a:lstStyle>
            <a:lvl1pPr indent="238125">
              <a:spcBef>
                <a:spcPts val="100"/>
              </a:spcBef>
              <a:defRPr sz="3200" spc="-100"/>
            </a:lvl1pPr>
          </a:lstStyle>
          <a:p>
            <a:pPr>
              <a:spcAft>
                <a:spcPts val="0"/>
              </a:spcAft>
              <a:defRPr/>
            </a:pPr>
            <a:r>
              <a:rPr lang="en-US">
                <a:sym typeface="Times New Roman"/>
              </a:rPr>
              <a:t>HOW GANs WORK</a:t>
            </a:r>
            <a:endParaRPr lang="en-US" dirty="0"/>
          </a:p>
        </p:txBody>
      </p:sp>
      <p:sp>
        <p:nvSpPr>
          <p:cNvPr id="10245" name="1 — Literature Synthesis Reviewed 35+ research papers to identify and categorise 40+ prompting techniques into a four-category taxonomy.…">
            <a:extLst>
              <a:ext uri="{FF2B5EF4-FFF2-40B4-BE49-F238E27FC236}">
                <a16:creationId xmlns:a16="http://schemas.microsoft.com/office/drawing/2014/main" id="{DFA2CBB7-83FD-66AB-9EC8-9860E88E1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396" y="2030413"/>
            <a:ext cx="8557257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square" lIns="45719" tIns="45720" rIns="45719" bIns="45720" anchor="t">
            <a:spAutoFit/>
          </a:bodyPr>
          <a:lstStyle>
            <a:lvl1pPr defTabSz="4572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defTabSz="4572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defTabSz="4572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defTabSz="4572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defTabSz="4572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4572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9144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1371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18288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r>
              <a:rPr lang="en-US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GAN trains two neural networks simultaneously in a competitive game</a:t>
            </a:r>
            <a:endParaRPr lang="en-US">
              <a:ea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Calibri"/>
              <a:ea typeface="Calibri"/>
              <a:cs typeface="Calibri"/>
              <a:sym typeface="Times New Roman" panose="02020603050405020304" pitchFamily="18" charset="0"/>
            </a:endParaRPr>
          </a:p>
          <a:p>
            <a:r>
              <a:rPr lang="en-US" b="1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Generator (G)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Takes random noise (z) as input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Outputs synthetic/fake data</a:t>
            </a:r>
            <a:endParaRPr lang="en-US"/>
          </a:p>
          <a:p>
            <a:r>
              <a:rPr lang="en-US" b="1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Discriminator (D)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Takes both real and fake data as input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Tries to correctly label which is real and which is fake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 b="1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The Goal: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G tries to fool D → produce realistic data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D tries to catch G → correctly identify fakes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 b="1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At Global Optimum:</a:t>
            </a:r>
            <a:endParaRPr lang="en-US" b="1"/>
          </a:p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G perfectly replicates real data distribution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Times New Roman" panose="02020603050405020304" pitchFamily="18" charset="0"/>
              </a:rPr>
              <a:t>D can no longer distinguish → outputs 0.5 (50/50) for every sample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AFC253-D296-537D-27F5-43E65AC05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541" y="1124895"/>
            <a:ext cx="5803848" cy="574040"/>
          </a:xfrm>
        </p:spPr>
        <p:txBody>
          <a:bodyPr>
            <a:normAutofit fontScale="90000"/>
          </a:bodyPr>
          <a:lstStyle/>
          <a:p>
            <a:r>
              <a:rPr lang="en-US"/>
              <a:t>Key Architectures &amp; Milestones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E9C76-8DB4-1D80-0694-2B9D15B70BFA}"/>
              </a:ext>
            </a:extLst>
          </p:cNvPr>
          <p:cNvSpPr txBox="1"/>
          <p:nvPr/>
        </p:nvSpPr>
        <p:spPr>
          <a:xfrm>
            <a:off x="771925" y="2110733"/>
            <a:ext cx="7900174" cy="4510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993D9-11DA-296D-E5C7-7E1110441EDD}"/>
              </a:ext>
            </a:extLst>
          </p:cNvPr>
          <p:cNvSpPr txBox="1"/>
          <p:nvPr/>
        </p:nvSpPr>
        <p:spPr>
          <a:xfrm>
            <a:off x="783987" y="2339899"/>
            <a:ext cx="8081094" cy="2246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Calibri"/>
                <a:ea typeface="Calibri"/>
                <a:cs typeface="Calibri"/>
              </a:rPr>
              <a:t>Decade-long progression in image synthesis quality: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Vanilla GAN (2014) → FID ~120, severe mode collapse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DCGAN (2016) → FID 37.11, convolutional + batch norm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WGAN-GP (2017) → FID 29.3, gradient penalty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 err="1">
                <a:latin typeface="Calibri"/>
                <a:ea typeface="Calibri"/>
                <a:cs typeface="Calibri"/>
              </a:rPr>
              <a:t>BigGAN</a:t>
            </a:r>
            <a:r>
              <a:rPr lang="en-US" sz="2000" dirty="0">
                <a:latin typeface="Calibri"/>
                <a:ea typeface="Calibri"/>
                <a:cs typeface="Calibri"/>
              </a:rPr>
              <a:t> (2018) → FID 7.4, large-scale conditional</a:t>
            </a:r>
            <a:endParaRPr lang="en-US" sz="2000" dirty="0"/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StyleGAN2 (2020) → FID 2.84, near photorealistic</a:t>
            </a:r>
            <a:endParaRPr lang="en-US" sz="200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object 14">
            <a:extLst>
              <a:ext uri="{FF2B5EF4-FFF2-40B4-BE49-F238E27FC236}">
                <a16:creationId xmlns:a16="http://schemas.microsoft.com/office/drawing/2014/main" id="{FE20C748-6257-17A2-C3BD-26D150B006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88438" y="6864350"/>
            <a:ext cx="127000" cy="169863"/>
          </a:xfrm>
        </p:spPr>
        <p:txBody>
          <a:bodyPr/>
          <a:lstStyle/>
          <a:p>
            <a:pPr>
              <a:defRPr/>
            </a:pPr>
            <a:fld id="{D0553D4E-878A-4E99-9C34-1B61B4C60819}" type="slidenum">
              <a:rPr/>
              <a:pPr>
                <a:defRPr/>
              </a:pPr>
              <a:t>6</a:t>
            </a:fld>
            <a:endParaRPr/>
          </a:p>
        </p:txBody>
      </p:sp>
      <p:sp>
        <p:nvSpPr>
          <p:cNvPr id="186" name="object 13">
            <a:extLst>
              <a:ext uri="{FF2B5EF4-FFF2-40B4-BE49-F238E27FC236}">
                <a16:creationId xmlns:a16="http://schemas.microsoft.com/office/drawing/2014/main" id="{1E42BEC1-CD45-B8A9-C9E3-698FC92E6C59}"/>
              </a:ext>
            </a:extLst>
          </p:cNvPr>
          <p:cNvSpPr txBox="1"/>
          <p:nvPr/>
        </p:nvSpPr>
        <p:spPr>
          <a:xfrm>
            <a:off x="2439163" y="1152106"/>
            <a:ext cx="4105948" cy="538609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t">
            <a:spAutoFit/>
          </a:bodyPr>
          <a:lstStyle>
            <a:lvl1pPr indent="127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>
              <a:lnSpc>
                <a:spcPts val="4200"/>
              </a:lnSpc>
              <a:spcBef>
                <a:spcPts val="200"/>
              </a:spcBef>
            </a:pPr>
            <a:r>
              <a:rPr lang="en-US" altLang="en-US" sz="3600" b="1" dirty="0">
                <a:latin typeface="Times New Roman"/>
                <a:cs typeface="Times New Roman"/>
                <a:sym typeface="Times New Roman" panose="02020603050405020304" pitchFamily="18" charset="0"/>
              </a:rPr>
              <a:t>GAN </a:t>
            </a:r>
            <a:r>
              <a:rPr lang="en-US" altLang="en-US" sz="3600" b="1">
                <a:latin typeface="Times New Roman"/>
                <a:cs typeface="Times New Roman"/>
                <a:sym typeface="Times New Roman" panose="02020603050405020304" pitchFamily="18" charset="0"/>
              </a:rPr>
              <a:t>TAXONOMY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F6F4EF-30E2-47EC-7E42-6F76E8F97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671948"/>
              </p:ext>
            </p:extLst>
          </p:nvPr>
        </p:nvGraphicFramePr>
        <p:xfrm>
          <a:off x="768263" y="2249117"/>
          <a:ext cx="8214910" cy="27521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07455">
                  <a:extLst>
                    <a:ext uri="{9D8B030D-6E8A-4147-A177-3AD203B41FA5}">
                      <a16:colId xmlns:a16="http://schemas.microsoft.com/office/drawing/2014/main" val="1994041458"/>
                    </a:ext>
                  </a:extLst>
                </a:gridCol>
                <a:gridCol w="4107455">
                  <a:extLst>
                    <a:ext uri="{9D8B030D-6E8A-4147-A177-3AD203B41FA5}">
                      <a16:colId xmlns:a16="http://schemas.microsoft.com/office/drawing/2014/main" val="930494531"/>
                    </a:ext>
                  </a:extLst>
                </a:gridCol>
              </a:tblGrid>
              <a:tr h="117947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Helvetica Neue"/>
                        </a:rPr>
                        <a:t>Foundational Frameworks — basic training protocols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Helvetica Neue"/>
                        </a:rPr>
                        <a:t>Vanilla GAN, DCGAN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7750206"/>
                  </a:ext>
                </a:extLst>
              </a:tr>
              <a:tr h="78631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Helvetica Neue"/>
                        </a:rPr>
                        <a:t>Stability-Oriented Models — convergence &amp; gradient health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Helvetica Neue"/>
                        </a:rPr>
                        <a:t>WGAN, WGAN-GP, SN-GAN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758404"/>
                  </a:ext>
                </a:extLst>
              </a:tr>
              <a:tr h="78631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/>
                        <a:t>Domain-Specific Applications — </a:t>
                      </a:r>
                      <a:r>
                        <a:rPr lang="en-US" sz="1800" b="0" i="0" u="none" strike="noStrike" noProof="0" dirty="0" err="1"/>
                        <a:t>optimised</a:t>
                      </a:r>
                      <a:r>
                        <a:rPr lang="en-US" sz="1800" b="0" i="0" u="none" strike="noStrike" noProof="0" dirty="0"/>
                        <a:t> for data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/>
                        <a:t>StyleGAN2, CTGAN, </a:t>
                      </a:r>
                      <a:r>
                        <a:rPr lang="en-US" sz="1800" b="0" i="0" u="none" strike="noStrike" noProof="0" dirty="0" err="1"/>
                        <a:t>TimeGAN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81567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95580" y="2057313"/>
            <a:ext cx="3555999" cy="2799282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bject 2">
            <a:extLst>
              <a:ext uri="{FF2B5EF4-FFF2-40B4-BE49-F238E27FC236}">
                <a16:creationId xmlns:a16="http://schemas.microsoft.com/office/drawing/2014/main" id="{9B346B8E-8A28-A474-4985-602A4849A500}"/>
              </a:ext>
            </a:extLst>
          </p:cNvPr>
          <p:cNvSpPr txBox="1"/>
          <p:nvPr/>
        </p:nvSpPr>
        <p:spPr>
          <a:xfrm>
            <a:off x="822960" y="2098417"/>
            <a:ext cx="2103120" cy="271707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indent="165100"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Times New Roman" panose="02020603050405020304" pitchFamily="18" charset="0"/>
              </a:rPr>
              <a:t>Results &amp; </a:t>
            </a:r>
            <a:r>
              <a:rPr lang="en-US" sz="3100" b="1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Times New Roman" panose="02020603050405020304" pitchFamily="18" charset="0"/>
              </a:rPr>
              <a:t>Performa-</a:t>
            </a:r>
            <a:r>
              <a:rPr lang="en-US" sz="3100" b="1" dirty="0" err="1">
                <a:solidFill>
                  <a:srgbClr val="FFFFFF"/>
                </a:solidFill>
                <a:latin typeface="+mj-lt"/>
                <a:ea typeface="+mj-ea"/>
                <a:cs typeface="+mj-cs"/>
                <a:sym typeface="Times New Roman" panose="02020603050405020304" pitchFamily="18" charset="0"/>
              </a:rPr>
              <a:t>nce</a:t>
            </a: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Times New Roman" panose="02020603050405020304" pitchFamily="18" charset="0"/>
              </a:rPr>
              <a:t> Comparison</a:t>
            </a:r>
            <a:endParaRPr lang="en-US" sz="31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screenshot of a data table&#10;&#10;AI-generated content may be incorrect.">
            <a:extLst>
              <a:ext uri="{FF2B5EF4-FFF2-40B4-BE49-F238E27FC236}">
                <a16:creationId xmlns:a16="http://schemas.microsoft.com/office/drawing/2014/main" id="{89271BB3-52BF-5AF4-81EE-7491732DA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852" y="1995086"/>
            <a:ext cx="5424560" cy="3322543"/>
          </a:xfrm>
          <a:prstGeom prst="rect">
            <a:avLst/>
          </a:prstGeom>
        </p:spPr>
      </p:pic>
      <p:sp>
        <p:nvSpPr>
          <p:cNvPr id="115" name="object 13">
            <a:extLst>
              <a:ext uri="{FF2B5EF4-FFF2-40B4-BE49-F238E27FC236}">
                <a16:creationId xmlns:a16="http://schemas.microsoft.com/office/drawing/2014/main" id="{57284EF8-8C7F-8085-C86A-17FF0FB73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827347" y="6780106"/>
            <a:ext cx="411479" cy="3894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hangingPunct="1">
              <a:spcAft>
                <a:spcPts val="600"/>
              </a:spcAft>
              <a:defRPr/>
            </a:pPr>
            <a:fld id="{82839EFE-A1F0-4367-85CC-023AD408BFF5}" type="slidenum">
              <a:rPr lang="en-US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pPr algn="r" hangingPunct="1">
                <a:spcAft>
                  <a:spcPts val="600"/>
                </a:spcAft>
                <a:defRPr/>
              </a:pPr>
              <a:t>7</a:t>
            </a:fld>
            <a:endParaRPr lang="en-US" kern="1200">
              <a:solidFill>
                <a:schemeClr val="tx1">
                  <a:alpha val="8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object 11">
            <a:extLst>
              <a:ext uri="{FF2B5EF4-FFF2-40B4-BE49-F238E27FC236}">
                <a16:creationId xmlns:a16="http://schemas.microsoft.com/office/drawing/2014/main" id="{87602CA0-801C-EA1B-0025-ABD697BE00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94B01C-A8DE-4111-8347-66E4F47A0371}" type="slidenum">
              <a:rPr/>
              <a:pPr>
                <a:defRPr/>
              </a:pPr>
              <a:t>8</a:t>
            </a:fld>
            <a:endParaRPr/>
          </a:p>
        </p:txBody>
      </p:sp>
      <p:sp>
        <p:nvSpPr>
          <p:cNvPr id="197" name="object 10">
            <a:extLst>
              <a:ext uri="{FF2B5EF4-FFF2-40B4-BE49-F238E27FC236}">
                <a16:creationId xmlns:a16="http://schemas.microsoft.com/office/drawing/2014/main" id="{7E68519D-B596-1F4E-CCA3-FF2DCA1287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138" y="1182688"/>
            <a:ext cx="2241550" cy="512762"/>
          </a:xfrm>
        </p:spPr>
        <p:txBody>
          <a:bodyPr/>
          <a:lstStyle>
            <a:lvl1pPr indent="12700">
              <a:spcBef>
                <a:spcPts val="100"/>
              </a:spcBef>
              <a:defRPr sz="3200" spc="-100"/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>
                <a:sym typeface="Times New Roman"/>
              </a:rPr>
              <a:t>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CA5C0C-23D8-494B-9B86-C15226379B24}"/>
              </a:ext>
            </a:extLst>
          </p:cNvPr>
          <p:cNvSpPr txBox="1"/>
          <p:nvPr/>
        </p:nvSpPr>
        <p:spPr>
          <a:xfrm>
            <a:off x="686060" y="1990120"/>
            <a:ext cx="8230737" cy="4247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>
                <a:latin typeface="Calibri"/>
                <a:ea typeface="Calibri"/>
                <a:cs typeface="Calibri"/>
              </a:rPr>
              <a:t>Standardised</a:t>
            </a:r>
            <a:r>
              <a:rPr lang="en-US" b="1" dirty="0">
                <a:latin typeface="Calibri"/>
                <a:ea typeface="Calibri"/>
                <a:cs typeface="Calibri"/>
              </a:rPr>
              <a:t> Benchmarks :</a:t>
            </a:r>
            <a:r>
              <a:rPr lang="en-US" dirty="0">
                <a:latin typeface="Calibri"/>
                <a:ea typeface="Calibri"/>
                <a:cs typeface="Calibri"/>
              </a:rPr>
              <a:t> No canonical benchmarks exist for tabular &amp; time-series GAN evaluation.</a:t>
            </a:r>
            <a:endParaRPr lang="en-US" dirty="0"/>
          </a:p>
          <a:p>
            <a:r>
              <a:rPr lang="en-US">
                <a:latin typeface="Calibri"/>
                <a:ea typeface="Calibri"/>
                <a:cs typeface="Calibri"/>
              </a:rPr>
              <a:t>Need datasets like CIFAR-10/ImageNet equivalent for non-image domains </a:t>
            </a:r>
            <a:endParaRPr lang="en-US"/>
          </a:p>
          <a:p>
            <a:endParaRPr lang="en-US"/>
          </a:p>
          <a:p>
            <a:r>
              <a:rPr lang="en-US" b="1" dirty="0">
                <a:latin typeface="Calibri"/>
                <a:ea typeface="Calibri"/>
                <a:cs typeface="Calibri"/>
              </a:rPr>
              <a:t>Lightweight GAN Architectures :</a:t>
            </a:r>
            <a:r>
              <a:rPr lang="en-US" dirty="0">
                <a:latin typeface="Calibri"/>
                <a:ea typeface="Calibri"/>
                <a:cs typeface="Calibri"/>
              </a:rPr>
              <a:t> Current SOTA models (StyleGAN2, </a:t>
            </a:r>
            <a:r>
              <a:rPr lang="en-US" dirty="0" err="1">
                <a:latin typeface="Calibri"/>
                <a:ea typeface="Calibri"/>
                <a:cs typeface="Calibri"/>
              </a:rPr>
              <a:t>BigGAN</a:t>
            </a:r>
            <a:r>
              <a:rPr lang="en-US" dirty="0">
                <a:latin typeface="Calibri"/>
                <a:ea typeface="Calibri"/>
                <a:cs typeface="Calibri"/>
              </a:rPr>
              <a:t>) require datacenter-scale compute.</a:t>
            </a:r>
            <a:endParaRPr lang="en-US" dirty="0"/>
          </a:p>
          <a:p>
            <a:r>
              <a:rPr lang="en-US">
                <a:latin typeface="Calibri"/>
                <a:ea typeface="Calibri"/>
                <a:cs typeface="Calibri"/>
              </a:rPr>
              <a:t>Future work → GANs deployable on low-resource/edge devices </a:t>
            </a:r>
            <a:endParaRPr lang="en-US"/>
          </a:p>
          <a:p>
            <a:endParaRPr lang="en-US"/>
          </a:p>
          <a:p>
            <a:r>
              <a:rPr lang="en-US" b="1" dirty="0">
                <a:latin typeface="Calibri"/>
                <a:ea typeface="Calibri"/>
                <a:cs typeface="Calibri"/>
              </a:rPr>
              <a:t>Privacy-by-Design Pipelines :</a:t>
            </a:r>
            <a:r>
              <a:rPr lang="en-US" dirty="0">
                <a:latin typeface="Calibri"/>
                <a:ea typeface="Calibri"/>
                <a:cs typeface="Calibri"/>
              </a:rPr>
              <a:t> Formal (ε, δ)-differential privacy guarantees essential for </a:t>
            </a:r>
            <a:r>
              <a:rPr lang="en-US">
                <a:latin typeface="Calibri"/>
                <a:ea typeface="Calibri"/>
                <a:cs typeface="Calibri"/>
              </a:rPr>
              <a:t>Medical &amp; financial synthetic data applications.</a:t>
            </a:r>
            <a:endParaRPr lang="en-US"/>
          </a:p>
          <a:p>
            <a:r>
              <a:rPr lang="en-US" dirty="0">
                <a:latin typeface="Calibri"/>
                <a:ea typeface="Calibri"/>
                <a:cs typeface="Calibri"/>
              </a:rPr>
              <a:t>Builds on PATE-GAN </a:t>
            </a:r>
            <a:r>
              <a:rPr lang="en-US">
                <a:latin typeface="Calibri"/>
                <a:ea typeface="Calibri"/>
                <a:cs typeface="Calibri"/>
              </a:rPr>
              <a:t>framework.</a:t>
            </a:r>
            <a:endParaRPr lang="en-US" dirty="0">
              <a:ea typeface="Calibri"/>
            </a:endParaRPr>
          </a:p>
          <a:p>
            <a:endParaRPr lang="en-US"/>
          </a:p>
          <a:p>
            <a:r>
              <a:rPr lang="en-US" b="1" dirty="0">
                <a:latin typeface="Calibri"/>
                <a:ea typeface="Calibri"/>
                <a:cs typeface="Calibri"/>
              </a:rPr>
              <a:t>Collaborative Governance :</a:t>
            </a:r>
            <a:r>
              <a:rPr lang="en-US" dirty="0">
                <a:latin typeface="Calibri"/>
                <a:ea typeface="Calibri"/>
                <a:cs typeface="Calibri"/>
              </a:rPr>
              <a:t> GAN misuse (deepfakes, disinformation) needs coordinated </a:t>
            </a:r>
            <a:r>
              <a:rPr lang="en-US">
                <a:latin typeface="Calibri"/>
                <a:ea typeface="Calibri"/>
                <a:cs typeface="Calibri"/>
              </a:rPr>
              <a:t>policy responses. </a:t>
            </a:r>
            <a:endParaRPr lang="en-US">
              <a:ea typeface="Calibri"/>
            </a:endParaRPr>
          </a:p>
          <a:p>
            <a:r>
              <a:rPr lang="en-US">
                <a:latin typeface="Calibri"/>
                <a:ea typeface="Calibri"/>
                <a:cs typeface="Calibri"/>
              </a:rPr>
              <a:t>Technical fixes alone (watermarking, detectors) are not sufficient</a:t>
            </a:r>
            <a:endParaRPr lang="en-US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object 2">
            <a:extLst>
              <a:ext uri="{FF2B5EF4-FFF2-40B4-BE49-F238E27FC236}">
                <a16:creationId xmlns:a16="http://schemas.microsoft.com/office/drawing/2014/main" id="{F4FD03E3-4313-D9D7-142E-7269765614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2475" y="3255963"/>
            <a:ext cx="3336925" cy="903287"/>
          </a:xfrm>
        </p:spPr>
        <p:txBody>
          <a:bodyPr/>
          <a:lstStyle/>
          <a:p>
            <a:pPr indent="12700" eaLnBrk="1" fontAlgn="auto" hangingPunct="1">
              <a:spcBef>
                <a:spcPts val="100"/>
              </a:spcBef>
              <a:spcAft>
                <a:spcPts val="0"/>
              </a:spcAft>
              <a:defRPr sz="5700" b="0"/>
            </a:pPr>
            <a:r>
              <a:rPr sz="5700" b="0">
                <a:sym typeface="Times New Roman"/>
              </a:rPr>
              <a:t>Thank</a:t>
            </a:r>
            <a:r>
              <a:rPr sz="5700" b="0" spc="-100">
                <a:sym typeface="Times New Roman"/>
              </a:rPr>
              <a:t>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</Words>
  <Application>Microsoft Office PowerPoint</Application>
  <PresentationFormat>Custom</PresentationFormat>
  <Paragraphs>120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Objective</vt:lpstr>
      <vt:lpstr>PowerPoint Presentation</vt:lpstr>
      <vt:lpstr>HOW GANs WORK</vt:lpstr>
      <vt:lpstr>Key Architectures &amp; Milestones</vt:lpstr>
      <vt:lpstr>PowerPoint Presentation</vt:lpstr>
      <vt:lpstr>PowerPoint Presentation</vt:lpstr>
      <vt:lpstr>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cloudconvert_11</cp:lastModifiedBy>
  <cp:revision>183</cp:revision>
  <dcterms:modified xsi:type="dcterms:W3CDTF">2026-05-08T17:48:43Z</dcterms:modified>
</cp:coreProperties>
</file>